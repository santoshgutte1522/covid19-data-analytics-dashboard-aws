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Confirmed Cases (Millions)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&quot;M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US</c:v>
                  </c:pt>
                  <c:pt idx="1">
                    <c:v>India</c:v>
                  </c:pt>
                  <c:pt idx="2">
                    <c:v>Brazil</c:v>
                  </c:pt>
                  <c:pt idx="3">
                    <c:v>France</c:v>
                  </c:pt>
                  <c:pt idx="4">
                    <c:v>Germany</c:v>
                  </c:pt>
                  <c:pt idx="5">
                    <c:v>United Kingdom</c:v>
                  </c:pt>
                  <c:pt idx="6">
                    <c:v>Russia</c:v>
                  </c:pt>
                  <c:pt idx="7">
                    <c:v>South Korea</c:v>
                  </c:pt>
                  <c:pt idx="8">
                    <c:v>Italy</c:v>
                  </c:pt>
                  <c:pt idx="9">
                    <c:v>Turkey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80.63</c:v>
                </c:pt>
                <c:pt idx="1">
                  <c:v>43.04</c:v>
                </c:pt>
                <c:pt idx="2">
                  <c:v>30.25</c:v>
                </c:pt>
                <c:pt idx="3">
                  <c:v>27.87</c:v>
                </c:pt>
                <c:pt idx="4">
                  <c:v>23.42</c:v>
                </c:pt>
                <c:pt idx="5">
                  <c:v>21.92</c:v>
                </c:pt>
                <c:pt idx="6">
                  <c:v>17.8</c:v>
                </c:pt>
                <c:pt idx="7">
                  <c:v>16.31</c:v>
                </c:pt>
                <c:pt idx="8">
                  <c:v>15.66</c:v>
                </c:pt>
                <c:pt idx="9">
                  <c:v>14.99</c:v>
                </c:pt>
              </c:numCache>
            </c:numRef>
          </c:val>
        </c:ser>
        <c:dLbls>
          <c:numFmt formatCode="0.0&quot;M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DCE3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4748B"/>
                    </a:solidFill>
                    <a:latin typeface="Arial"/>
                  </a:rPr>
                  <a:t>Confirmed Cases (Millions)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Outcomes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B6A6"/>
              </a:solidFill>
              <a:effectLst/>
            </c:spPr>
          </c:dPt>
          <c:dPt>
            <c:idx val="1"/>
            <c:bubble3D val="0"/>
            <c:spPr>
              <a:solidFill>
                <a:srgbClr val="D6455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Recovered</c:v>
                </c:pt>
                <c:pt idx="1">
                  <c:v>Deaths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95.7</c:v>
                </c:pt>
                <c:pt idx="1">
                  <c:v>4.3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cons/globe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778240" y="1463040"/>
            <a:ext cx="3840480" cy="3840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14173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" name="Image 1" descr="/home/claude/icons/clou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1563624"/>
            <a:ext cx="347472" cy="34747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45920" y="1417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A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 ANALYTICS PROJECT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822960" y="233172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COVID-19 Data Analytics Dashboard</a:t>
            </a:r>
            <a:endParaRPr lang="en-US" sz="4400" dirty="0"/>
          </a:p>
        </p:txBody>
      </p:sp>
      <p:sp>
        <p:nvSpPr>
          <p:cNvPr id="7" name="Text 3"/>
          <p:cNvSpPr/>
          <p:nvPr/>
        </p:nvSpPr>
        <p:spPr>
          <a:xfrm>
            <a:off x="822960" y="37033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serverless cloud analytics solution for global COVID-19 data, built with Amazon Web Services and Microsoft Power BI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822960" y="4709160"/>
            <a:ext cx="18288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22960" y="4937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Santosh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22960" y="52852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 • AWS Glue • Amazon Athena • Power BI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serverless analytics on global pandemic data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COVID-19 Data Analytics Dashboard is an end-to-end cloud-based analytics project developed using Amazon Web Services and Microsoft Power BI. It analyzes global COVID-19 data and generates meaningful insights through SQL queries and interactive visualizations.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follows a fully serverless architecture: data is stored in Amazon S3, metadata is managed through AWS Glue, the dataset is queried using Amazon Athena, and the results are visualized in Power BI — demonstrating a scalable, cost-effective approach to pandemic data analysis.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5349240"/>
            <a:ext cx="6309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53492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scalable, cost-effective cloud analytics solution that integrates AWS serverless services with Power BI for interactive dashboards.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178040" y="1554480"/>
            <a:ext cx="4434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06640" y="178308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0" descr="/home/claude/icons/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0998" y="1907438"/>
            <a:ext cx="528523" cy="52852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366760" y="17190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Architecture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366760" y="2084832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servers to manage — S3, Glue and Athena scale automatically.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178040" y="3017520"/>
            <a:ext cx="4434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406640" y="324612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/home/claude/icons/athen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0998" y="3370478"/>
            <a:ext cx="528523" cy="52852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366760" y="31821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SQL-Based Analysis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8366760" y="3547872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Athena queries extract country, trend and global statistics.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7178040" y="4480560"/>
            <a:ext cx="4434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406640" y="470916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2" descr="/home/claude/icons/powerb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998" y="4833518"/>
            <a:ext cx="528523" cy="52852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66760" y="46451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8366760" y="5010912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visualizes KPIs, trends and country comparisons.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Data Analytics Dashboard  |  AWS + Power BI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from raw dataset ingestion to dashboard visualization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3017520"/>
            <a:ext cx="1051560" cy="10515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icons/up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405" y="3196285"/>
            <a:ext cx="694030" cy="6940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41788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(CSV)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600200" y="3543300"/>
            <a:ext cx="617220" cy="0"/>
          </a:xfrm>
          <a:prstGeom prst="line">
            <a:avLst/>
          </a:prstGeom>
          <a:noFill/>
          <a:ln w="22225">
            <a:solidFill>
              <a:srgbClr val="9CA9C2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217420" y="3017520"/>
            <a:ext cx="1051560" cy="10515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/home/claude/icons/s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185" y="3196285"/>
            <a:ext cx="694030" cy="6940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97380" y="41788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268980" y="3543300"/>
            <a:ext cx="617220" cy="0"/>
          </a:xfrm>
          <a:prstGeom prst="line">
            <a:avLst/>
          </a:prstGeom>
          <a:noFill/>
          <a:ln w="22225">
            <a:solidFill>
              <a:srgbClr val="9CA9C2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3886200" y="3017520"/>
            <a:ext cx="1051560" cy="10515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/home/claude/icons/glue_d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965" y="3196285"/>
            <a:ext cx="694030" cy="69403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66160" y="41788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Glue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937760" y="3543300"/>
            <a:ext cx="617220" cy="0"/>
          </a:xfrm>
          <a:prstGeom prst="line">
            <a:avLst/>
          </a:prstGeom>
          <a:noFill/>
          <a:ln w="22225">
            <a:solidFill>
              <a:srgbClr val="9CA9C2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5554980" y="3017520"/>
            <a:ext cx="1051560" cy="10515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3" descr="/home/claude/icons/crawl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745" y="3196285"/>
            <a:ext cx="694030" cy="69403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34940" y="41788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Crawler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6606540" y="3543300"/>
            <a:ext cx="617220" cy="0"/>
          </a:xfrm>
          <a:prstGeom prst="line">
            <a:avLst/>
          </a:prstGeom>
          <a:noFill/>
          <a:ln w="22225">
            <a:solidFill>
              <a:srgbClr val="9CA9C2"/>
            </a:solidFill>
            <a:prstDash val="solid"/>
            <a:tailEnd type="triangle"/>
          </a:ln>
        </p:spPr>
      </p:sp>
      <p:sp>
        <p:nvSpPr>
          <p:cNvPr id="20" name="Shape 14"/>
          <p:cNvSpPr/>
          <p:nvPr/>
        </p:nvSpPr>
        <p:spPr>
          <a:xfrm>
            <a:off x="7223760" y="3017520"/>
            <a:ext cx="1051560" cy="10515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4" descr="/home/claude/icons/catalo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2525" y="3196285"/>
            <a:ext cx="694030" cy="69403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903720" y="41788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8275320" y="3543300"/>
            <a:ext cx="617220" cy="0"/>
          </a:xfrm>
          <a:prstGeom prst="line">
            <a:avLst/>
          </a:prstGeom>
          <a:noFill/>
          <a:ln w="22225">
            <a:solidFill>
              <a:srgbClr val="9CA9C2"/>
            </a:solidFill>
            <a:prstDash val="solid"/>
            <a:tailEnd type="triangle"/>
          </a:ln>
        </p:spPr>
      </p:sp>
      <p:sp>
        <p:nvSpPr>
          <p:cNvPr id="24" name="Shape 17"/>
          <p:cNvSpPr/>
          <p:nvPr/>
        </p:nvSpPr>
        <p:spPr>
          <a:xfrm>
            <a:off x="8892540" y="3017520"/>
            <a:ext cx="1051560" cy="10515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5" name="Image 5" descr="/home/claude/icons/athen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1305" y="3196285"/>
            <a:ext cx="694030" cy="69403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572500" y="41788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9944100" y="3543300"/>
            <a:ext cx="617220" cy="0"/>
          </a:xfrm>
          <a:prstGeom prst="line">
            <a:avLst/>
          </a:prstGeom>
          <a:noFill/>
          <a:ln w="22225">
            <a:solidFill>
              <a:srgbClr val="9CA9C2"/>
            </a:solidFill>
            <a:prstDash val="solid"/>
            <a:tailEnd type="triangle"/>
          </a:ln>
        </p:spPr>
      </p:sp>
      <p:sp>
        <p:nvSpPr>
          <p:cNvPr id="28" name="Shape 20"/>
          <p:cNvSpPr/>
          <p:nvPr/>
        </p:nvSpPr>
        <p:spPr>
          <a:xfrm>
            <a:off x="10561320" y="3017520"/>
            <a:ext cx="1051560" cy="10515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9" name="Image 6" descr="/home/claude/icons/powerbi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40085" y="3196285"/>
            <a:ext cx="694030" cy="69403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0241280" y="41788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31" name="Shape 22"/>
          <p:cNvSpPr/>
          <p:nvPr/>
        </p:nvSpPr>
        <p:spPr>
          <a:xfrm>
            <a:off x="548640" y="4709160"/>
            <a:ext cx="34442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Text 23"/>
          <p:cNvSpPr/>
          <p:nvPr/>
        </p:nvSpPr>
        <p:spPr>
          <a:xfrm>
            <a:off x="777240" y="4864608"/>
            <a:ext cx="298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400" dirty="0"/>
          </a:p>
        </p:txBody>
      </p:sp>
      <p:sp>
        <p:nvSpPr>
          <p:cNvPr id="33" name="Text 24"/>
          <p:cNvSpPr/>
          <p:nvPr/>
        </p:nvSpPr>
        <p:spPr>
          <a:xfrm>
            <a:off x="777240" y="5193792"/>
            <a:ext cx="298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covid19-dashboard-santosh-2026 holds the raw dataset and query outputs.</a:t>
            </a:r>
            <a:endParaRPr lang="en-US" sz="1150" dirty="0"/>
          </a:p>
        </p:txBody>
      </p:sp>
      <p:sp>
        <p:nvSpPr>
          <p:cNvPr id="34" name="Shape 25"/>
          <p:cNvSpPr/>
          <p:nvPr/>
        </p:nvSpPr>
        <p:spPr>
          <a:xfrm>
            <a:off x="4358640" y="4709160"/>
            <a:ext cx="34442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Text 26"/>
          <p:cNvSpPr/>
          <p:nvPr/>
        </p:nvSpPr>
        <p:spPr>
          <a:xfrm>
            <a:off x="4587240" y="4864608"/>
            <a:ext cx="298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400" dirty="0"/>
          </a:p>
        </p:txBody>
      </p:sp>
      <p:sp>
        <p:nvSpPr>
          <p:cNvPr id="36" name="Text 27"/>
          <p:cNvSpPr/>
          <p:nvPr/>
        </p:nvSpPr>
        <p:spPr>
          <a:xfrm>
            <a:off x="4587240" y="5193792"/>
            <a:ext cx="298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database covid19db and crawler covid19crawler auto-detect schema.</a:t>
            </a:r>
            <a:endParaRPr lang="en-US" sz="1150" dirty="0"/>
          </a:p>
        </p:txBody>
      </p:sp>
      <p:sp>
        <p:nvSpPr>
          <p:cNvPr id="37" name="Shape 28"/>
          <p:cNvSpPr/>
          <p:nvPr/>
        </p:nvSpPr>
        <p:spPr>
          <a:xfrm>
            <a:off x="8168640" y="4709160"/>
            <a:ext cx="34442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8" name="Text 29"/>
          <p:cNvSpPr/>
          <p:nvPr/>
        </p:nvSpPr>
        <p:spPr>
          <a:xfrm>
            <a:off x="8397240" y="4864608"/>
            <a:ext cx="298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&amp; Visualize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397240" y="5193792"/>
            <a:ext cx="298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 runs SQL on the cataloged table; results feed the Power BI dashboard.</a:t>
            </a:r>
            <a:endParaRPr lang="en-US" sz="1150" dirty="0"/>
          </a:p>
        </p:txBody>
      </p:sp>
      <p:sp>
        <p:nvSpPr>
          <p:cNvPr id="40" name="Text 31"/>
          <p:cNvSpPr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Data Analytics Dashboard  |  AWS + Power BI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serverless services paired with Microsoft Power BI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442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713232" cy="71323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icons/s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077" y="1942917"/>
            <a:ext cx="484998" cy="4849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33472"/>
            <a:ext cx="289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944368"/>
            <a:ext cx="289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raw COVID-19 dataset and Athena query results.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58640" y="1554480"/>
            <a:ext cx="34442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32960" y="1828800"/>
            <a:ext cx="713232" cy="71323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icons/glue_d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077" y="1942917"/>
            <a:ext cx="484998" cy="4849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32960" y="2633472"/>
            <a:ext cx="289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Glue Database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32960" y="2944368"/>
            <a:ext cx="289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container that organizes table metadata.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68640" y="1554480"/>
            <a:ext cx="34442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2960" y="1828800"/>
            <a:ext cx="713232" cy="71323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icons/crawl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077" y="1942917"/>
            <a:ext cx="484998" cy="48499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2960" y="2633472"/>
            <a:ext cx="289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Glue Crawler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42960" y="2944368"/>
            <a:ext cx="289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the dataset in S3 and auto-generates schema.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794760"/>
            <a:ext cx="34442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4069080"/>
            <a:ext cx="713232" cy="71323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icons/catalo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077" y="4183197"/>
            <a:ext cx="484998" cy="48499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4873752"/>
            <a:ext cx="289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Data Catalog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22960" y="5184648"/>
            <a:ext cx="289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schema and table definitions for querying.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58640" y="3794760"/>
            <a:ext cx="34442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32960" y="4069080"/>
            <a:ext cx="713232" cy="71323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/home/claude/icons/athen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7077" y="4183197"/>
            <a:ext cx="484998" cy="48499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32960" y="4873752"/>
            <a:ext cx="289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Athena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32960" y="5184648"/>
            <a:ext cx="289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SQL engine that queries data directly in S3.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68640" y="3794760"/>
            <a:ext cx="34442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42960" y="4069080"/>
            <a:ext cx="713232" cy="71323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1" name="Image 5" descr="/home/claude/icons/powerbi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7077" y="4183197"/>
            <a:ext cx="484998" cy="48499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42960" y="4873752"/>
            <a:ext cx="289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442960" y="5184648"/>
            <a:ext cx="289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dashboards and visualizes Athena query results.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Data Analytics Dashboard  |  AWS + Power BI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COVID-19 Statistics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results from Amazon Athena SQL queries  •  Jan 22, 2020 – Apr 16, 2022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956816" cy="2468880"/>
          </a:xfrm>
          <a:prstGeom prst="roundRect">
            <a:avLst>
              <a:gd name="adj" fmla="val 4673"/>
            </a:avLst>
          </a:prstGeom>
          <a:solidFill>
            <a:srgbClr val="2A335E"/>
          </a:solidFill>
          <a:ln/>
        </p:spPr>
      </p:sp>
      <p:sp>
        <p:nvSpPr>
          <p:cNvPr id="5" name="Shape 3"/>
          <p:cNvSpPr/>
          <p:nvPr/>
        </p:nvSpPr>
        <p:spPr>
          <a:xfrm>
            <a:off x="1184148" y="214884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icons/vir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876" y="2258568"/>
            <a:ext cx="466344" cy="4663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01752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504.16M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" y="356616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Confirmed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825496" y="1874520"/>
            <a:ext cx="1956816" cy="2468880"/>
          </a:xfrm>
          <a:prstGeom prst="roundRect">
            <a:avLst>
              <a:gd name="adj" fmla="val 4673"/>
            </a:avLst>
          </a:prstGeom>
          <a:solidFill>
            <a:srgbClr val="2A335E"/>
          </a:solidFill>
          <a:ln/>
        </p:spPr>
      </p:sp>
      <p:sp>
        <p:nvSpPr>
          <p:cNvPr id="10" name="Shape 7"/>
          <p:cNvSpPr/>
          <p:nvPr/>
        </p:nvSpPr>
        <p:spPr>
          <a:xfrm>
            <a:off x="3461004" y="2148840"/>
            <a:ext cx="685800" cy="685800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11" name="Image 1" descr="/home/claude/icons/sku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732" y="2258568"/>
            <a:ext cx="466344" cy="4663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16936" y="301752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6.20M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2916936" y="356616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Deaths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102352" y="1874520"/>
            <a:ext cx="1956816" cy="2468880"/>
          </a:xfrm>
          <a:prstGeom prst="roundRect">
            <a:avLst>
              <a:gd name="adj" fmla="val 4673"/>
            </a:avLst>
          </a:prstGeom>
          <a:solidFill>
            <a:srgbClr val="2A335E"/>
          </a:solidFill>
          <a:ln/>
        </p:spPr>
      </p:sp>
      <p:sp>
        <p:nvSpPr>
          <p:cNvPr id="15" name="Shape 11"/>
          <p:cNvSpPr/>
          <p:nvPr/>
        </p:nvSpPr>
        <p:spPr>
          <a:xfrm>
            <a:off x="5737860" y="2148840"/>
            <a:ext cx="685800" cy="685800"/>
          </a:xfrm>
          <a:prstGeom prst="ellipse">
            <a:avLst/>
          </a:prstGeom>
          <a:solidFill>
            <a:srgbClr val="2FB6A6"/>
          </a:solidFill>
          <a:ln/>
        </p:spPr>
      </p:sp>
      <p:pic>
        <p:nvPicPr>
          <p:cNvPr id="16" name="Image 2" descr="/home/claude/icons/heartbe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588" y="2258568"/>
            <a:ext cx="466344" cy="4663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93792" y="301752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137.25M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5193792" y="356616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Recovered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379208" y="1874520"/>
            <a:ext cx="1956816" cy="2468880"/>
          </a:xfrm>
          <a:prstGeom prst="roundRect">
            <a:avLst>
              <a:gd name="adj" fmla="val 4673"/>
            </a:avLst>
          </a:prstGeom>
          <a:solidFill>
            <a:srgbClr val="2A335E"/>
          </a:solidFill>
          <a:ln/>
        </p:spPr>
      </p:sp>
      <p:sp>
        <p:nvSpPr>
          <p:cNvPr id="20" name="Shape 15"/>
          <p:cNvSpPr/>
          <p:nvPr/>
        </p:nvSpPr>
        <p:spPr>
          <a:xfrm>
            <a:off x="8014716" y="214884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icons/glob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4444" y="2258568"/>
            <a:ext cx="466344" cy="4663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70648" y="301752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360.71M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7470648" y="356616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Cases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9656064" y="1874520"/>
            <a:ext cx="1956816" cy="2468880"/>
          </a:xfrm>
          <a:prstGeom prst="roundRect">
            <a:avLst>
              <a:gd name="adj" fmla="val 4673"/>
            </a:avLst>
          </a:prstGeom>
          <a:solidFill>
            <a:srgbClr val="2A335E"/>
          </a:solidFill>
          <a:ln/>
        </p:spPr>
      </p:sp>
      <p:sp>
        <p:nvSpPr>
          <p:cNvPr id="25" name="Shape 19"/>
          <p:cNvSpPr/>
          <p:nvPr/>
        </p:nvSpPr>
        <p:spPr>
          <a:xfrm>
            <a:off x="10291572" y="2148840"/>
            <a:ext cx="685800" cy="685800"/>
          </a:xfrm>
          <a:prstGeom prst="ellipse">
            <a:avLst/>
          </a:prstGeom>
          <a:solidFill>
            <a:srgbClr val="5B6FD6"/>
          </a:solidFill>
          <a:ln/>
        </p:spPr>
      </p:sp>
      <p:pic>
        <p:nvPicPr>
          <p:cNvPr id="26" name="Image 4" descr="/home/claude/icons/syn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1300" y="2258568"/>
            <a:ext cx="466344" cy="4663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747504" y="301752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27.22%</a:t>
            </a:r>
            <a:endParaRPr lang="en-US" sz="2200" dirty="0"/>
          </a:p>
        </p:txBody>
      </p:sp>
      <p:sp>
        <p:nvSpPr>
          <p:cNvPr id="28" name="Text 21"/>
          <p:cNvSpPr/>
          <p:nvPr/>
        </p:nvSpPr>
        <p:spPr>
          <a:xfrm>
            <a:off x="9747504" y="356616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Rate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548640" y="4709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Query: SELECT SUM(confirmed), SUM(recovered), SUM(deaths) FROM covid19_dashboard_santosh_2026;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548640" y="5257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7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Athena SQL queries powered the dashboard: top countries by confirmed cases, deaths and recoveries, global totals, and a daily trend aggregation across all 816 days of data.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Data Analytics Dashboard  |  AWS + Power BI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Countries by Confirmed Cases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the Athena query grouping confirmed cases by country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108813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Data Analytics Dashboard  |  AWS + Power BI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 query results visualized as an interactive Power BI report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160520" cy="46177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vs Recovered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share of total reported cases</a:t>
            </a:r>
            <a:endParaRPr lang="en-US" sz="10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868680" y="2331720"/>
          <a:ext cx="35204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4983480" y="1554480"/>
            <a:ext cx="66294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257800" y="17190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349240" y="205740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Confirmed Cases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Death Cases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Recovered Cases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Cases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Rate (%)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983480" y="3886200"/>
            <a:ext cx="662940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257800" y="40507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&amp; Filters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349240" y="4389120"/>
            <a:ext cx="6035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charts — top 10 countries by confirmed, deaths, recoveries</a:t>
            </a:r>
            <a:endParaRPr lang="en-US" sz="1200" dirty="0"/>
          </a:p>
          <a:p>
            <a:pPr marL="342900" indent="-342900">
              <a:lnSpc>
                <a:spcPct val="122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— daily confirmed cases trend</a:t>
            </a:r>
            <a:endParaRPr lang="en-US" sz="1200" dirty="0"/>
          </a:p>
          <a:p>
            <a:pPr marL="342900" indent="-342900">
              <a:lnSpc>
                <a:spcPct val="122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chart — recovery trend over time</a:t>
            </a:r>
            <a:endParaRPr lang="en-US" sz="1200" dirty="0"/>
          </a:p>
          <a:p>
            <a:pPr marL="342900" indent="-342900">
              <a:lnSpc>
                <a:spcPct val="122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Country-wise statistics table</a:t>
            </a:r>
            <a:endParaRPr lang="en-US" sz="1200" dirty="0"/>
          </a:p>
          <a:p>
            <a:pPr marL="342900" indent="-342900">
              <a:lnSpc>
                <a:spcPct val="122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Country and Date Range filters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Data Analytics Dashboard  |  AWS + Power BI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7FD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212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C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 recorded the highest confirmed case count.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C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recorded the highest total recoveries.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C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trends show rapid surges across multiple pandemic waves.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C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rates improved significantly as the pandemic progressed.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C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statistics give a complete overview of pandemic impact.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37947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7FD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/home/claude/icons/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247" y="4218127"/>
            <a:ext cx="268834" cy="2688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416052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— zero infrastructure to manage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461772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/home/claude/icons/tr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247" y="4675327"/>
            <a:ext cx="268834" cy="26883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8992" y="461772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scalable and fast query execution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507492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/home/claude/icons/doll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47" y="5132527"/>
            <a:ext cx="268834" cy="26883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78992" y="507492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Cost-effective, pay-per-query pricing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126480" y="1188720"/>
            <a:ext cx="5486400" cy="2331720"/>
          </a:xfrm>
          <a:prstGeom prst="roundRect">
            <a:avLst>
              <a:gd name="adj" fmla="val 3529"/>
            </a:avLst>
          </a:prstGeom>
          <a:solidFill>
            <a:srgbClr val="2A335E"/>
          </a:solidFill>
          <a:ln/>
        </p:spPr>
      </p:sp>
      <p:sp>
        <p:nvSpPr>
          <p:cNvPr id="16" name="Text 11"/>
          <p:cNvSpPr/>
          <p:nvPr/>
        </p:nvSpPr>
        <p:spPr>
          <a:xfrm>
            <a:off x="6400800" y="13716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7FD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492240" y="1719072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C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analytics &amp; pandemic monitoring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C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statistical analysis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C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reporting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C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 systems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126480" y="3703320"/>
            <a:ext cx="5486400" cy="1600200"/>
          </a:xfrm>
          <a:prstGeom prst="roundRect">
            <a:avLst>
              <a:gd name="adj" fmla="val 5143"/>
            </a:avLst>
          </a:prstGeom>
          <a:solidFill>
            <a:srgbClr val="2A335E"/>
          </a:solidFill>
          <a:ln/>
        </p:spPr>
      </p:sp>
      <p:sp>
        <p:nvSpPr>
          <p:cNvPr id="19" name="Text 14"/>
          <p:cNvSpPr/>
          <p:nvPr/>
        </p:nvSpPr>
        <p:spPr>
          <a:xfrm>
            <a:off x="6400800" y="38587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7FD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92240" y="42062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DC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integration &amp; automated reporting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DC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prediction models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DC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analytics integration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8640" y="571500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065A82"/>
          </a:solidFill>
          <a:ln/>
        </p:spPr>
      </p:sp>
      <p:sp>
        <p:nvSpPr>
          <p:cNvPr id="22" name="Text 17"/>
          <p:cNvSpPr/>
          <p:nvPr/>
        </p:nvSpPr>
        <p:spPr>
          <a:xfrm>
            <a:off x="868680" y="571500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successfully demonstrates how AWS serverless services and Power BI integrate into a complete, scalable cloud analytics solution.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Data Analytics Dashboard  |  AWS + Power BI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COVID-19 Data Analytics Dashboard</dc:title>
  <dc:subject>PptxGenJS Presentation</dc:subject>
  <dc:creator>Santosh</dc:creator>
  <cp:lastModifiedBy>Santosh</cp:lastModifiedBy>
  <cp:revision>1</cp:revision>
  <dcterms:created xsi:type="dcterms:W3CDTF">2026-06-20T06:10:33Z</dcterms:created>
  <dcterms:modified xsi:type="dcterms:W3CDTF">2026-06-20T06:10:33Z</dcterms:modified>
</cp:coreProperties>
</file>